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4173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Georgia"/>
              </a:rPr>
              <a:t>Tossalisti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5A623"/>
                </a:solidFill>
                <a:latin typeface="Calibri"/>
              </a:rPr>
              <a:t>Íslenskt innkaupa- og heimilisapp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611880"/>
            <a:ext cx="6583680" cy="18288"/>
          </a:xfrm>
          <a:prstGeom prst="rect">
            <a:avLst/>
          </a:prstGeom>
          <a:solidFill>
            <a:srgbClr val="2C4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Samstarfstillaga fyrir Ölgerðina &amp; Danól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Sverrir Sigursveinsson   ·   tossalisti.is   ·   innkaupalisti.is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TÆKIFÆRIÐ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Stór, daglegur markaður — engin íslensk lausn ræður ríkjum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Daglegur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Matarinnkaup eru meðal stærstu endurteknu útgjalda hvers heimilis — í hverri viku, allt árið.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18888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Erlend öpp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Famn, Bring! o.fl. eru ekki almennilega á íslensku og þekkja hvorki íslenskar vörur né verslanir.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5" y="2194560"/>
            <a:ext cx="3630168" cy="24688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23376" y="2514600"/>
            <a:ext cx="45720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2743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315E"/>
                </a:solidFill>
                <a:latin typeface="Georgia"/>
              </a:rPr>
              <a:t>Opið pláss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32918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Tækifæri fyrir íslenska lausn sem á markaðinn — og auglýsingavettvanginn sem fylgir.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1B2A41"/>
                </a:solidFill>
                <a:latin typeface="Calibri"/>
              </a:rPr>
              <a:t>Niðurstaða: rétti tíminn fyrir íslenskt app — og fyrir fyrsta samstarfsaðilann að eiga vettvanginn.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VARAN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Allt heimilið á einum stað — á íslensku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854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Innkaupalistar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694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Sjálfvirk flokkun í búðardeildir — snjallt og fljótlegt.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22402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258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1854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Uppskriftir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5694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Veldu uppskrift og hráefnin fara beint á listann.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570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Verkefni &amp; heimilisskema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410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Verkaskipting, áminningar og stig fyrir fjölskylduna.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36118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30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5570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Strikamerkjaskanni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9410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Skannaðu vöru — hún birtist með mynd og í réttri deild.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01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286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Kvittanaskönnun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126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Lestu kvittun, merktu keypt og fylgstu með eyðslu.</a:t>
            </a:r>
          </a:p>
        </p:txBody>
      </p:sp>
      <p:sp>
        <p:nvSpPr>
          <p:cNvPr id="25" name="Oval 24"/>
          <p:cNvSpPr/>
          <p:nvPr/>
        </p:nvSpPr>
        <p:spPr>
          <a:xfrm>
            <a:off x="6263640" y="4983480"/>
            <a:ext cx="457200" cy="457200"/>
          </a:xfrm>
          <a:prstGeom prst="ellipse">
            <a:avLst/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001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928616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Deiling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3126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Samnýttu lista með fjölskyldu og vinum í rauntíma.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STAÐAN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Þetta er ekki hugmynd — varan er komin í loftið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8600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76856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Í loftinu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19456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Virk vara á tossalisti.is — vefur og uppsetjanleg sem app í síma.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2724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181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3580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Skanni &amp; vöruleit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35808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Strikamerkjaskanni, vörumyndir og íslensk vöruleit virk.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6849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9593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7705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Eyðsla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877056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Kvittanaskönnun og eyðsluyfirlit komin inn.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0974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80060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18304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Tilbúið að stækka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718304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7A93"/>
                </a:solidFill>
                <a:latin typeface="Calibri"/>
              </a:rPr>
              <a:t>Byggt hratt og ódýrt á traustum grunni (Supabase + Netlify).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06440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Tilbúið fyrir fyrsta samstarfsaðilann — engin bið eftir þróun.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SAMANBURÐUR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Óháð verslun — og fyrir allt heimilið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0879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072"/>
                <a:gridCol w="1609344"/>
                <a:gridCol w="1609344"/>
                <a:gridCol w="1609344"/>
                <a:gridCol w="1609344"/>
                <a:gridCol w="1609344"/>
              </a:tblGrid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5315E"/>
                          </a:solidFill>
                          <a:latin typeface="Calibri"/>
                        </a:rPr>
                        <a:t>Tossalisti</a:t>
                      </a:r>
                    </a:p>
                  </a:txBody>
                  <a:tcPr marL="73152" marR="54864" marT="18288" marB="18288" anchor="ctr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Famn</a:t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Bring!</a:t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Krónan</a:t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Bónus</a:t>
                      </a:r>
                    </a:p>
                  </a:txBody>
                  <a:tcPr marL="73152" marR="54864" marT="18288" marB="18288" anchor="ctr">
                    <a:solidFill>
                      <a:srgbClr val="15315E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Íslenskt vöru- og verslunarkerfi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Þýðing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Óháð verslun (allar búðir)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Strikamerkjaskanni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Vörumyndir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Íkon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Íkon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Uppskriftir beint á lista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Kvittanaskönnun + eyðsla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Verðsamanburður milli búða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✓*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Verkefni / heimilisskema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6B7A9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Verð til notanda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B2A41"/>
                          </a:solidFill>
                          <a:latin typeface="Calibri"/>
                        </a:rPr>
                        <a:t>Frítt</a:t>
                      </a:r>
                    </a:p>
                  </a:txBody>
                  <a:tcPr marL="73152" marR="54864" marT="18288" marB="18288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Frítt+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Frítt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Frítt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A41"/>
                          </a:solidFill>
                          <a:latin typeface="Calibri"/>
                        </a:rPr>
                        <a:t>Frítt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53328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B7A93"/>
                </a:solidFill>
                <a:latin typeface="Calibri"/>
              </a:rPr>
              <a:t>✓* á þróunarstigi · Krónan/Bónus bundin einni keðju · Famn er norskt með íslenskri þýðingu · einnig til: Nettó/Samkaup, Hagkaup, Cozi, Listonic.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AF HVERJU NÚNA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Retail media er hraðast vaxandi auglýsingamiðill heims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+22%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árlegur vöxtur — umfram alla aðra auglýsingamiðla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&gt;20%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af öllum stafrænum auglýsingum árið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+170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milljarðar USD velta á heimsvísu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2860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60604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5A623"/>
                </a:solidFill>
                <a:latin typeface="Georg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3611880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íslenskar hliðstæður í matvöru — tækifærið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 i="1">
                <a:solidFill>
                  <a:srgbClr val="FFFFFF"/>
                </a:solidFill>
                <a:latin typeface="Calibri"/>
              </a:rPr>
              <a:t>Auglýsingar á sölustað eru orðnar stærri en sjónvarp á heimsvísu. Ekkert slíkt er til í íslenskri matvöru — enn.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0A4C8"/>
                </a:solidFill>
                <a:latin typeface="Calibri"/>
              </a:rPr>
              <a:t>Heimildir: eMarketer, WPP Media, dentsu (2025).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HUGMYNDIN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Náðu til neytandans á ákvörðunarstundu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Calibri"/>
              </a:rPr>
              <a:t>Innkaupalistinn er fyrr í ferlinu en hillan — og persónulegri.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6B7A93"/>
                </a:solidFill>
                <a:latin typeface="Calibri"/>
              </a:rPr>
              <a:t>Þegar vara kemst á listann er ákvörðunin í raun tekin áður en fólk gengur inn í búðina.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600" b="0" i="0">
                <a:solidFill>
                  <a:srgbClr val="1B2A41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6B7A93"/>
                </a:solidFill>
                <a:latin typeface="Calibri"/>
              </a:rPr>
              <a:t>Tossalisti gefur vörumerkjum sæti við það borð — fyrstur, ekki síðastur.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Innkaupalistinn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254203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5A623"/>
                </a:solidFill>
                <a:latin typeface="Calibri"/>
              </a:rPr>
              <a:t>← hér náum við til þeirra fyrst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38328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B2A41"/>
                </a:solidFill>
                <a:latin typeface="Calibri"/>
              </a:rPr>
              <a:t>Búðin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3291840" cy="86868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3291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B2A41"/>
                </a:solidFill>
                <a:latin typeface="Calibri"/>
              </a:rPr>
              <a:t>Hillan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FYRIR ÖLGERÐINA &amp; DANÓL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Vörur ykkar fremst þegar fólk skrifar listann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423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Vörumerkin í forgang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072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Malt, Egils Appelsín, Pepsi og fleiri vörur birtast og forgangsraðast í leit og tillögum.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423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Breidd Danól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80720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Allt vöruúrval heildsölunnar inn í kerfið — ein tenging, mörg vörumerki.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Eftirspurnarsköpun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427024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Minnið fólk á vöruna áður en það velur — á listanum, ekki bara í hillunni.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212080" cy="123444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82296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886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5315E"/>
                </a:solidFill>
                <a:latin typeface="Calibri"/>
              </a:rPr>
              <a:t>Körfu-innsýn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27024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Sjáið hvað fer með hverju, hvenær og hvar — beint úr raunverulegum innkaupum.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SAMSTARF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Leiðir til samstarfs (dæmi)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90879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72384"/>
                <a:gridCol w="3072384"/>
                <a:gridCol w="307238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Brons – Kynning</a:t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Silfur – Kostaðar vörur</a:t>
                      </a:r>
                    </a:p>
                  </a:txBody>
                  <a:tcPr marL="109728" marR="109728" marT="54864" marB="54864" anchor="ctr">
                    <a:solidFill>
                      <a:srgbClr val="15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Gull – Stofnaðili</a:t>
                      </a:r>
                    </a:p>
                  </a:txBody>
                  <a:tcPr marL="109728" marR="109728" marT="54864" marB="54864" anchor="ctr">
                    <a:solidFill>
                      <a:srgbClr val="F5A62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6B7A93"/>
                          </a:solidFill>
                          <a:latin typeface="Calibri"/>
                        </a:rPr>
                        <a:t>Verð (dæmi)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150.000 kr/mán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5315E"/>
                          </a:solidFill>
                          <a:latin typeface="Calibri"/>
                        </a:rPr>
                        <a:t>350.000 kr/mán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5A623"/>
                          </a:solidFill>
                          <a:latin typeface="Calibri"/>
                        </a:rPr>
                        <a:t>750.000 kr/mán</a:t>
                      </a:r>
                    </a:p>
                  </a:txBody>
                  <a:tcPr marL="109728" marR="109728" marT="54864" marB="54864" anchor="ctr"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1920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B7A93"/>
                          </a:solidFill>
                          <a:latin typeface="Calibri"/>
                        </a:rPr>
                        <a:t>Hvað fylgir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Vörumerki sýnilegt í viðeigandi flokki. Mánaðarleg yfirlitsskýrsla.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Kostaðar vörur efst í leit. Flokkakostun. Innsýn í eftirspurn.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Einkaréttur í drykkjarflokki. Hámarks sýnileiki. Full innsýn. Samsköpun. Fyrstur inn.</a:t>
                      </a:r>
                    </a:p>
                  </a:txBody>
                  <a:tcPr marL="109728" marR="109728" marT="54864" marB="54864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B7A93"/>
                </a:solidFill>
                <a:latin typeface="Calibri"/>
              </a:rPr>
              <a:t>Dæmi til viðmiðunar — stillanlegt eftir markmiðum og umfangi.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GÖGN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Innsýn sem heildsala fær hvergi annars staðar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58568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Eftirspurn áður en hún verður sala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9456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Hvaða vörur fólk setur á lista — vísbending um sölu áður en hún gerist.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5468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Körfugreining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090672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Hvað er keypt saman — tækifæri til krosssölu og vöruþróunar.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050791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8678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Þróun og landshlutar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986784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Breytingar yfir tíma og eftir svæðum.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4690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8289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2A41"/>
                </a:solidFill>
                <a:latin typeface="Calibri"/>
              </a:rPr>
              <a:t>Persónuvernd virt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88289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A93"/>
                </a:solidFill>
                <a:latin typeface="Calibri"/>
              </a:rPr>
              <a:t>Allt samandregið og nafnlaust — engin persónugreinanleg gögn.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BEIÐNIN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5315E"/>
                </a:solidFill>
                <a:latin typeface="Georgia"/>
              </a:rPr>
              <a:t>Verið fyrsti samstarfsaðilinn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Tilraunaverkefni (pilot) í drykkjarflokki — 3 til 6 mánuðir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419856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Lágáhætta, byrjar strax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33756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Mælanlegur árangur frá fyrsta degi — engin löng þróun.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078224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99592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Tvöfaldur ávinningur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995928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Fjármagnar áframhaldandi þróun OG gefur ykkur kostaða staðsetningu + innsýn.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736592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5429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Einkaréttur fyrsta aðila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654296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Eigið drykkjarflokkinn í appinu á meðan það vex.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94959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312664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B2A41"/>
                </a:solidFill>
                <a:latin typeface="Calibri"/>
              </a:rPr>
              <a:t>Stækkar gangi 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312664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6B7A93"/>
                </a:solidFill>
                <a:latin typeface="Calibri"/>
              </a:rPr>
              <a:t>Úr pilot í fullt, langtíma samstarf.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315E"/>
                </a:solidFill>
                <a:latin typeface="Calibri"/>
              </a:rPr>
              <a:t>Skref 1: skilgreinum saman markmið og mælikvarða fyrir 3–6 mánaða pilot.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1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Verum fyrst.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004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A623"/>
                </a:solidFill>
                <a:latin typeface="Calibri"/>
              </a:rPr>
              <a:t>Íslensk lausn · íslenskar vörur · íslensk gögn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Sverrir Sigursveinsson   ·   sigursveinsson@gmail.com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52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tossalisti.is   ·   innkaupalisti.is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